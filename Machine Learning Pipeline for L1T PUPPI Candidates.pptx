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embeddedFontLst>
    <p:embeddedFont>
      <p:font typeface="Inter" panose="020B0604020202020204" charset="0"/>
      <p:regular r:id="rId12"/>
      <p:bold r:id="rId13"/>
      <p:italic r:id="rId14"/>
      <p:boldItalic r:id="rId15"/>
    </p:embeddedFont>
    <p:embeddedFont>
      <p:font typeface="Inter SemiBold" panose="020B0604020202020204" charset="0"/>
      <p:regular r:id="rId16"/>
      <p:bold r:id="rId17"/>
      <p:italic r:id="rId18"/>
      <p:boldItalic r:id="rId19"/>
    </p:embeddedFont>
    <p:embeddedFont>
      <p:font typeface="Space Grotesk" panose="020B0604020202020204" charset="0"/>
      <p:regular r:id="rId20"/>
      <p:bold r:id="rId21"/>
    </p:embeddedFont>
    <p:embeddedFont>
      <p:font typeface="Space Grotesk SemiBold" panose="020B0604020202020204" charset="0"/>
      <p:regular r:id="rId22"/>
      <p:bold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fa22d514a4_1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g3fa22d514a4_1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png"/><Relationship Id="rId3" Type="http://schemas.openxmlformats.org/officeDocument/2006/relationships/image" Target="../media/image1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1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0" Type="http://schemas.openxmlformats.org/officeDocument/2006/relationships/image" Target="../media/image44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216497"/>
            <a:ext cx="3210966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581025" y="2740372"/>
            <a:ext cx="11581447" cy="1139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Machine Learning Pipeline for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9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 L1T PUPPI Candidates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742950" y="5487875"/>
            <a:ext cx="87468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Data Extraction, Feature Engineering,</a:t>
            </a:r>
            <a:r>
              <a:rPr lang="en-US" sz="15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classification model development and optimization 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for Level-1 Trigger Pileup Per Particle Identification.</a:t>
            </a:r>
            <a:endParaRPr/>
          </a:p>
        </p:txBody>
      </p:sp>
      <p:pic>
        <p:nvPicPr>
          <p:cNvPr id="88" name="Google Shape;88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42950" y="2302222"/>
            <a:ext cx="140047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/>
          <p:nvPr/>
        </p:nvSpPr>
        <p:spPr>
          <a:xfrm>
            <a:off x="742950" y="4933675"/>
            <a:ext cx="864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Challenge 1: Di-Higgs (HH -&gt; 4b) vs QCD discrimination for trigger systems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742950" y="4171675"/>
            <a:ext cx="45123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Alex Hayslip, Arghya Das, Michael Ramshaw</a:t>
            </a:r>
            <a:endParaRPr sz="15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Team Name: Classification is in session</a:t>
            </a:r>
            <a:endParaRPr sz="15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5" y="1573559"/>
            <a:ext cx="5324475" cy="150867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253673"/>
            <a:ext cx="5324474" cy="177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5240710"/>
            <a:ext cx="5324474" cy="127248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800100" y="1792634"/>
            <a:ext cx="5130641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8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8BDF8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Context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800100" y="2154584"/>
            <a:ext cx="4886400" cy="7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Level-1 Trigger (L1T) Pileup Per Particle Identification (PUPPI) candidate processing in high-energy particle physics collision events.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800100" y="3472755"/>
            <a:ext cx="5130641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8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8BDF8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Objective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800100" y="3834705"/>
            <a:ext cx="4886400" cy="10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Develop a binary classification model to p</a:t>
            </a: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redict physics signal (HH -&gt; 4B</a:t>
            </a:r>
            <a:r>
              <a:rPr lang="en-US" sz="12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) </a:t>
            </a: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vs. background noise (is_signal) using reconstructed subatomic particle candidate records</a:t>
            </a:r>
            <a:r>
              <a:rPr lang="en-US" sz="12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as a dataframe parsed together from numerous parquet files in multiple folders. 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800125" y="5368535"/>
            <a:ext cx="51306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8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8BDF8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Key Challenges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800063" y="5681460"/>
            <a:ext cx="4886400" cy="7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Severe class imbalance for signal column</a:t>
            </a:r>
            <a:r>
              <a:rPr lang="en-US" sz="12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, overwhelming amount of</a:t>
            </a: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dummy/placeholder candidates for particle id, </a:t>
            </a:r>
            <a:r>
              <a:rPr lang="en-US" sz="12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conversation of dataframe into a readable format for classification model</a:t>
            </a:r>
            <a:endParaRPr/>
          </a:p>
        </p:txBody>
      </p:sp>
      <p:pic>
        <p:nvPicPr>
          <p:cNvPr id="104" name="Google Shape;104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0100" y="1821209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0100" y="3501330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00100" y="5449635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581025" y="485775"/>
            <a:ext cx="11581447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Problem Statement &amp; Objectives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366962"/>
            <a:ext cx="5324475" cy="2819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366962"/>
            <a:ext cx="5324475" cy="2819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76300" y="2662237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876300" y="3328987"/>
            <a:ext cx="4970621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8BDF8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Pipeline Integration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876300" y="3690937"/>
            <a:ext cx="4733925" cy="1200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Engineered custom robust utility functions read_first_fragment and load_physics_dataset_from_pvc to systematically ingest raw Parquet physics data fragments directly from persistent storage volumes.</a:t>
            </a:r>
            <a:endParaRPr/>
          </a:p>
        </p:txBody>
      </p:sp>
      <p:pic>
        <p:nvPicPr>
          <p:cNvPr id="118" name="Google Shape;118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81775" y="2662237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6581775" y="3328987"/>
            <a:ext cx="4970621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8BDF8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Parquet Candidate Parsing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6581775" y="3690937"/>
            <a:ext cx="4733925" cy="954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Implemented an optimized iterative parser to extract and flatten complex nested candidate arrays from L1T_PUPPIPart Parquet files into structured, tabular DataFrames tailored for high-performance Python analytics.</a:t>
            </a:r>
            <a:endParaRPr/>
          </a:p>
        </p:txBody>
      </p:sp>
      <p:pic>
        <p:nvPicPr>
          <p:cNvPr id="121" name="Google Shape;121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71550" y="2786062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734175" y="2786062"/>
            <a:ext cx="1714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 txBox="1"/>
          <p:nvPr/>
        </p:nvSpPr>
        <p:spPr>
          <a:xfrm>
            <a:off x="581025" y="485775"/>
            <a:ext cx="11581447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Data Procurement &amp; Ingestion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>
            <a:off x="981075" y="1495865"/>
            <a:ext cx="10629900" cy="4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Column Scrubbing &amp; Deduplication:</a:t>
            </a: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Dropped funique_id due to identifier redundancy and error_dz due to uninformative sentinel zeros. Removed 10 identical duplicate records to ensure sample integrity.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981075" y="2173926"/>
            <a:ext cx="10629900" cy="4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Infinite Value Filtering:</a:t>
            </a: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Identified and purged 3,212 defective rows in the dxysig impact parameter significance column containing positive or negative infinity (±inf).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981075" y="2851987"/>
            <a:ext cx="10629900" cy="4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Categorical Mapping &amp; Masking:</a:t>
            </a: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Engineered custom subatomic charge categories (positive, negative, neutral) and </a:t>
            </a:r>
            <a:r>
              <a:rPr lang="en-US" sz="12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Is Dummy Variable by applying </a:t>
            </a: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np.where on pdgid == 0 to explicitly flag dummy/placeholder particles.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819150" y="3500311"/>
            <a:ext cx="10629900" cy="4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Class Imbalance Strategy:</a:t>
            </a: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Identified and recorded severe target label imbalance in the dataset to inform loss weighting and stratified cross-validation strategies.</a:t>
            </a:r>
            <a:endParaRPr/>
          </a:p>
        </p:txBody>
      </p:sp>
      <p:pic>
        <p:nvPicPr>
          <p:cNvPr id="133" name="Google Shape;133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495878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3400" y="2247889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57213" y="285197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33413" y="3540935"/>
            <a:ext cx="2381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/>
          <p:cNvSpPr txBox="1"/>
          <p:nvPr/>
        </p:nvSpPr>
        <p:spPr>
          <a:xfrm>
            <a:off x="581025" y="485775"/>
            <a:ext cx="11581447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Data Cleaning &amp; Sanitization</a:t>
            </a:r>
            <a:endParaRPr/>
          </a:p>
        </p:txBody>
      </p:sp>
      <p:pic>
        <p:nvPicPr>
          <p:cNvPr id="138" name="Google Shape;138;p16" title="base data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0" y="4148625"/>
            <a:ext cx="12162473" cy="259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528762"/>
            <a:ext cx="5324475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1528748"/>
            <a:ext cx="5324474" cy="115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6500" y="2814638"/>
            <a:ext cx="5324474" cy="1004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86500" y="3983838"/>
            <a:ext cx="5324474" cy="10144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7"/>
          <p:cNvSpPr txBox="1"/>
          <p:nvPr/>
        </p:nvSpPr>
        <p:spPr>
          <a:xfrm>
            <a:off x="6515100" y="1681162"/>
            <a:ext cx="5150643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8BDF8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Dummy Variable Overwhelming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6515100" y="1938337"/>
            <a:ext cx="4905300" cy="7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EDA revealed that candidate sets contain a heavily dominant proportion of dummy placeholder particles (7,338,212</a:t>
            </a:r>
            <a:r>
              <a:rPr lang="en-US" sz="112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/10,370,440 , </a:t>
            </a:r>
            <a:r>
              <a:rPr lang="en-US" sz="112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70.6% of data) across collision events.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6515100" y="2838450"/>
            <a:ext cx="5150643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8BDF8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Neutral Charge Dominance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6515100" y="3095625"/>
            <a:ext cx="4905375" cy="442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Subatomic charge distribution is strongly skewed toward neutral particles across both signal and background target classes.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6373413" y="4073138"/>
            <a:ext cx="5150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8BDF8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Feature Correlation Analysis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6286500" y="4545825"/>
            <a:ext cx="4905300" cy="4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Seaborn correlation heatmaps highlighted strong collinearity between weighted momenta (pt, pt_weighted) and energy (e).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581025" y="485775"/>
            <a:ext cx="11581447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Exploratory Data Analysis</a:t>
            </a:r>
            <a:endParaRPr/>
          </a:p>
        </p:txBody>
      </p:sp>
      <p:pic>
        <p:nvPicPr>
          <p:cNvPr id="155" name="Google Shape;155;p17" title="correlation_heatmap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47650" y="1062025"/>
            <a:ext cx="5657850" cy="408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449450"/>
            <a:ext cx="3524250" cy="2440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36950" y="1449450"/>
            <a:ext cx="3621175" cy="2440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989800" y="1449450"/>
            <a:ext cx="3524250" cy="2440775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8"/>
          <p:cNvSpPr txBox="1"/>
          <p:nvPr/>
        </p:nvSpPr>
        <p:spPr>
          <a:xfrm>
            <a:off x="581025" y="1021391"/>
            <a:ext cx="8995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Grouped candidate data by ["sample", "entry"] to construct 23 event-level physics variables across three main clusters:</a:t>
            </a:r>
            <a:endParaRPr/>
          </a:p>
        </p:txBody>
      </p:sp>
      <p:pic>
        <p:nvPicPr>
          <p:cNvPr id="165" name="Google Shape;165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2700" y="1581732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8"/>
          <p:cNvSpPr txBox="1"/>
          <p:nvPr/>
        </p:nvSpPr>
        <p:spPr>
          <a:xfrm>
            <a:off x="582700" y="2290320"/>
            <a:ext cx="32004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8BDF8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Kinematic Metrics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582700" y="2585607"/>
            <a:ext cx="3048000" cy="10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Sum, mean, max, and standard deviation computed for transverse momentum (pt), total energy (e), invariant mass (mass), and spatial spread (eta, phi).</a:t>
            </a:r>
            <a:endParaRPr/>
          </a:p>
        </p:txBody>
      </p:sp>
      <p:pic>
        <p:nvPicPr>
          <p:cNvPr id="168" name="Google Shape;168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333875" y="1448382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8"/>
          <p:cNvSpPr txBox="1"/>
          <p:nvPr/>
        </p:nvSpPr>
        <p:spPr>
          <a:xfrm>
            <a:off x="4333875" y="2019870"/>
            <a:ext cx="32004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8BDF8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Charge &amp; PUPPI Features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4333863" y="2407320"/>
            <a:ext cx="3048000" cy="13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Total charged candidate count (n_charged), net electric charge, positive/negative counts, and aggregated mean/sum PUPPI isolation weights (puppi_weight).</a:t>
            </a:r>
            <a:endParaRPr/>
          </a:p>
        </p:txBody>
      </p:sp>
      <p:pic>
        <p:nvPicPr>
          <p:cNvPr id="171" name="Google Shape;171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989800" y="1448382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8"/>
          <p:cNvSpPr txBox="1"/>
          <p:nvPr/>
        </p:nvSpPr>
        <p:spPr>
          <a:xfrm>
            <a:off x="7989800" y="2013582"/>
            <a:ext cx="32004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8BDF8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Noise Indicators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7989800" y="2467525"/>
            <a:ext cx="3048000" cy="13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Transverse/longitudinal displacement significance parameters (dxysig, dz) combined with total dummy count (n_dummy) and dummy fraction (dummy_fraction).</a:t>
            </a:r>
            <a:endParaRPr/>
          </a:p>
        </p:txBody>
      </p:sp>
      <p:pic>
        <p:nvPicPr>
          <p:cNvPr id="174" name="Google Shape;174;p18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82700" y="1715082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8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438650" y="1581732"/>
            <a:ext cx="2667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8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989800" y="1581732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8"/>
          <p:cNvSpPr txBox="1"/>
          <p:nvPr/>
        </p:nvSpPr>
        <p:spPr>
          <a:xfrm>
            <a:off x="581025" y="485775"/>
            <a:ext cx="11581447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Classification Feature Pipeline</a:t>
            </a:r>
            <a:endParaRPr/>
          </a:p>
        </p:txBody>
      </p:sp>
      <p:pic>
        <p:nvPicPr>
          <p:cNvPr id="178" name="Google Shape;178;p18" title="slice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581025" y="4417225"/>
            <a:ext cx="11076623" cy="2318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5131593"/>
            <a:ext cx="11029950" cy="7762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1181100"/>
            <a:ext cx="11029950" cy="5191125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9"/>
          <p:cNvSpPr txBox="1"/>
          <p:nvPr/>
        </p:nvSpPr>
        <p:spPr>
          <a:xfrm>
            <a:off x="781050" y="5198077"/>
            <a:ext cx="10629900" cy="7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Selection Rationale:</a:t>
            </a:r>
            <a:r>
              <a:rPr lang="en-US" sz="112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2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Histogram Gradient Boosted model</a:t>
            </a:r>
            <a:r>
              <a:rPr lang="en-US" sz="112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outperformed the </a:t>
            </a:r>
            <a:r>
              <a:rPr lang="en-US" sz="112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logistic regression</a:t>
            </a:r>
            <a:r>
              <a:rPr lang="en-US" sz="112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baselin</a:t>
            </a:r>
            <a:r>
              <a:rPr lang="en-US" sz="112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</a:t>
            </a:r>
            <a:r>
              <a:rPr lang="en-US" sz="112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by ~7.8% AUC points. HistGradientBoostingClassifier was selected </a:t>
            </a:r>
            <a:r>
              <a:rPr lang="en-US" sz="112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as the classification model of choice due a</a:t>
            </a:r>
            <a:r>
              <a:rPr lang="en-US" sz="112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predictive score of (5-fold CV AUC: 0.8003), fast histogram binning speed, and native handling of sparse particle data.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581025" y="485775"/>
            <a:ext cx="11581447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Classifier Benchmarking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874050"/>
            <a:ext cx="5324474" cy="147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3379336"/>
            <a:ext cx="5324474" cy="1278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4811898"/>
            <a:ext cx="5324474" cy="101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86500" y="1874043"/>
            <a:ext cx="53244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0"/>
          <p:cNvSpPr txBox="1"/>
          <p:nvPr/>
        </p:nvSpPr>
        <p:spPr>
          <a:xfrm>
            <a:off x="762000" y="2055018"/>
            <a:ext cx="5210651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76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8BDF8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Hyperparameter Search</a:t>
            </a:r>
            <a:endParaRPr/>
          </a:p>
        </p:txBody>
      </p:sp>
      <p:sp>
        <p:nvSpPr>
          <p:cNvPr id="198" name="Google Shape;198;p20"/>
          <p:cNvSpPr txBox="1"/>
          <p:nvPr/>
        </p:nvSpPr>
        <p:spPr>
          <a:xfrm>
            <a:off x="762000" y="2312196"/>
            <a:ext cx="4962600" cy="9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Ran 50-iteration RandomizedSearchCV on HistGradientBoosting with Stratified 5-Fold CV, tuning learning rate, tree depth, and L2 regularization. The test AUC of 0.7994 performed slightly worse than the baseline </a:t>
            </a:r>
            <a:r>
              <a:rPr lang="en-US" sz="10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HistGradientBoosted Model</a:t>
            </a:r>
            <a:endParaRPr/>
          </a:p>
        </p:txBody>
      </p:sp>
      <p:sp>
        <p:nvSpPr>
          <p:cNvPr id="199" name="Google Shape;199;p20"/>
          <p:cNvSpPr txBox="1"/>
          <p:nvPr/>
        </p:nvSpPr>
        <p:spPr>
          <a:xfrm>
            <a:off x="761975" y="3390715"/>
            <a:ext cx="5210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76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8BDF8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Permutation Feature Pruning</a:t>
            </a:r>
            <a:endParaRPr/>
          </a:p>
        </p:txBody>
      </p:sp>
      <p:sp>
        <p:nvSpPr>
          <p:cNvPr id="200" name="Google Shape;200;p20"/>
          <p:cNvSpPr txBox="1"/>
          <p:nvPr/>
        </p:nvSpPr>
        <p:spPr>
          <a:xfrm>
            <a:off x="762000" y="3641590"/>
            <a:ext cx="4962600" cy="9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Identified top predictors (dxysig_std, pt_max, puppi_weight_sum, dummy_fraction, n_charged) and pruned feature set from 23 down to 13 key predictors. </a:t>
            </a:r>
            <a:r>
              <a:rPr lang="en-US" sz="10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Returned a test AUC score of 0.8022, slightly outperforming the base Histogram Gradient Boosted Classification Model</a:t>
            </a:r>
            <a:endParaRPr/>
          </a:p>
        </p:txBody>
      </p:sp>
      <p:sp>
        <p:nvSpPr>
          <p:cNvPr id="201" name="Google Shape;201;p20"/>
          <p:cNvSpPr txBox="1"/>
          <p:nvPr/>
        </p:nvSpPr>
        <p:spPr>
          <a:xfrm>
            <a:off x="762000" y="4811910"/>
            <a:ext cx="5210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76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8BDF8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PyTorch Particle Transformer</a:t>
            </a:r>
            <a:endParaRPr/>
          </a:p>
        </p:txBody>
      </p:sp>
      <p:sp>
        <p:nvSpPr>
          <p:cNvPr id="202" name="Google Shape;202;p20"/>
          <p:cNvSpPr txBox="1"/>
          <p:nvPr/>
        </p:nvSpPr>
        <p:spPr>
          <a:xfrm>
            <a:off x="761963" y="5052098"/>
            <a:ext cx="4962600" cy="6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Trained sequence-level 3-layer ParticleTransformer (d_model=64, 4 heads, CLS token, padding masks) for 500 epochs, reaching 0.7868 Test AUC directly on raw tensors</a:t>
            </a:r>
            <a:r>
              <a:rPr lang="en-US" sz="10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 </a:t>
            </a:r>
            <a:endParaRPr/>
          </a:p>
        </p:txBody>
      </p:sp>
      <p:pic>
        <p:nvPicPr>
          <p:cNvPr id="203" name="Google Shape;203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62000" y="2083593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38188" y="3433461"/>
            <a:ext cx="2190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0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 rot="10800000" flipH="1">
            <a:off x="762000" y="4850255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0"/>
          <p:cNvSpPr txBox="1"/>
          <p:nvPr/>
        </p:nvSpPr>
        <p:spPr>
          <a:xfrm>
            <a:off x="581025" y="485775"/>
            <a:ext cx="11581447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Optimization &amp; Deep Learning</a:t>
            </a:r>
            <a:endParaRPr/>
          </a:p>
        </p:txBody>
      </p:sp>
      <p:pic>
        <p:nvPicPr>
          <p:cNvPr id="207" name="Google Shape;207;p20" title="best pipeline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286500" y="1874050"/>
            <a:ext cx="5875976" cy="490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13988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697473"/>
            <a:ext cx="5324474" cy="173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3504574"/>
            <a:ext cx="5324474" cy="1278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4811896"/>
            <a:ext cx="5324474" cy="173975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1"/>
          <p:cNvSpPr txBox="1"/>
          <p:nvPr/>
        </p:nvSpPr>
        <p:spPr>
          <a:xfrm>
            <a:off x="761975" y="1725675"/>
            <a:ext cx="51435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76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38BDF8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Inputs for an ML model are crucial  </a:t>
            </a:r>
            <a:endParaRPr/>
          </a:p>
        </p:txBody>
      </p:sp>
      <p:sp>
        <p:nvSpPr>
          <p:cNvPr id="217" name="Google Shape;217;p21"/>
          <p:cNvSpPr txBox="1"/>
          <p:nvPr/>
        </p:nvSpPr>
        <p:spPr>
          <a:xfrm>
            <a:off x="761963" y="2012137"/>
            <a:ext cx="4962600" cy="14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Changing the data structure from event, subentry format to a groupby format of sample and respective entries improved the AUC performance of the base logistic regression model from 52.8% to 72.2%. From there, I was able to write the classification model pipeline to output the results of eight different models which helped me choose the hist gradient boosted model and optimize its performance. </a:t>
            </a:r>
            <a:endParaRPr/>
          </a:p>
        </p:txBody>
      </p:sp>
      <p:sp>
        <p:nvSpPr>
          <p:cNvPr id="218" name="Google Shape;218;p21"/>
          <p:cNvSpPr txBox="1"/>
          <p:nvPr/>
        </p:nvSpPr>
        <p:spPr>
          <a:xfrm>
            <a:off x="762000" y="3521690"/>
            <a:ext cx="5210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76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38BDF8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Gather domain knowledge  </a:t>
            </a:r>
            <a:endParaRPr/>
          </a:p>
        </p:txBody>
      </p:sp>
      <p:sp>
        <p:nvSpPr>
          <p:cNvPr id="219" name="Google Shape;219;p21"/>
          <p:cNvSpPr txBox="1"/>
          <p:nvPr/>
        </p:nvSpPr>
        <p:spPr>
          <a:xfrm>
            <a:off x="761963" y="3775753"/>
            <a:ext cx="4962600" cy="9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 did not have prior knowledge of physics. In order to properly clean and analyze the data, I asked for clarification on what the columns meant as well as what numeric values for each columns would be odd. This influenced my decisions to perform the data cleaning. </a:t>
            </a:r>
            <a:endParaRPr/>
          </a:p>
        </p:txBody>
      </p:sp>
      <p:sp>
        <p:nvSpPr>
          <p:cNvPr id="220" name="Google Shape;220;p21"/>
          <p:cNvSpPr txBox="1"/>
          <p:nvPr/>
        </p:nvSpPr>
        <p:spPr>
          <a:xfrm>
            <a:off x="762000" y="4811910"/>
            <a:ext cx="5210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76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38BDF8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Trying New Things is Okay, Even If it Doesn’t Work</a:t>
            </a:r>
            <a:endParaRPr/>
          </a:p>
        </p:txBody>
      </p:sp>
      <p:sp>
        <p:nvSpPr>
          <p:cNvPr id="221" name="Google Shape;221;p21"/>
          <p:cNvSpPr txBox="1"/>
          <p:nvPr/>
        </p:nvSpPr>
        <p:spPr>
          <a:xfrm>
            <a:off x="761975" y="5052100"/>
            <a:ext cx="4962600" cy="14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Yesterday was the first time I used Pytorch with a transformer architecture to build a classification model. I </a:t>
            </a:r>
            <a:r>
              <a:rPr lang="en-US" sz="10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Trained sequence-level 3-layer ParticleTransformer (d_model=64, 4 heads, CLS token, padding masks) for 500 epochs, reaching 0.7868 Test AUC directly on raw tensors</a:t>
            </a:r>
            <a:r>
              <a:rPr lang="en-US" sz="10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 Even though this model was not selected as the final model, I was able to understand how to build a classification model with the help of PyTorch and transformers. </a:t>
            </a:r>
            <a:endParaRPr/>
          </a:p>
        </p:txBody>
      </p:sp>
      <p:pic>
        <p:nvPicPr>
          <p:cNvPr id="222" name="Google Shape;222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10800000" flipH="1">
            <a:off x="762000" y="4850255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1"/>
          <p:cNvSpPr txBox="1"/>
          <p:nvPr/>
        </p:nvSpPr>
        <p:spPr>
          <a:xfrm>
            <a:off x="581025" y="485775"/>
            <a:ext cx="115815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Lessons Learned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970</Words>
  <Application>Microsoft Office PowerPoint</Application>
  <PresentationFormat>Widescreen</PresentationFormat>
  <Paragraphs>53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Space Grotesk</vt:lpstr>
      <vt:lpstr>Inter</vt:lpstr>
      <vt:lpstr>Calibri</vt:lpstr>
      <vt:lpstr>Inter SemiBold</vt:lpstr>
      <vt:lpstr>Space Grotesk SemiBold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Alex Hayslip</dc:creator>
  <cp:lastModifiedBy>Alex Hayslip</cp:lastModifiedBy>
  <cp:revision>1</cp:revision>
  <dcterms:modified xsi:type="dcterms:W3CDTF">2026-09-05T01:10:56Z</dcterms:modified>
</cp:coreProperties>
</file>